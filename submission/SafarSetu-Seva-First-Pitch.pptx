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0742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Fill every field exactly as entered in the online application form so reviewers can match the deck to the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Reviewers look for a clearly defined, real and significant problem backed by evidence. One strong statistic is better than many weak ones. Cite the source for every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clearly how the solution addresses the problem on Slide 2. Compare against what exists today — reviewers score originality and relevance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realistic. A clear, costed plan with an identified adopting department scores better than an ambitious but vague one. Mention any validation already done (tests, user feedback, certifications).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Quantify impact wherever possible and state your assumptions. Where relevant, link the solution to an existing Government scheme, mission or the Sustainable Development Goals.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only active team members. Be specific about the support requested — it helps the organisers match you with the right mentor, department or incubator.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FIRST INNOVATION CHALLENGE 2026  •  MAHARASHTRA ZONE  •  SUBMISSION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SafarSetu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Plan your work around the buses, metro and trains you can actually catch — with calm alerts when things change.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real challenge in society, government service or industry are you solving?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2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is the problem?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Commuters juggle several apps and learn of delays late. Google Help: no multi-stop directions for public transit. Nobody plans a working day around deadlines.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352044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affected, and where?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Commuters, students, seniors and visitors in Mumbai and Pune. PMPML carries ~10 lakh a day (2025); MSRTC ~50–55 lakh a day statewide (media).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59436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Mumbai suburban rail ~68 lakh/day (CR+WR, FY2025-26). PMPML ~60 breakdowns/day (FPJ 2025). TomTom 2025: Pune 33m20s per 10 km. Baseline interviews planned.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8328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352044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gaps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Moovit, m-Indicator and Mumbai One give routes and tickets, not a day of timed stops. We complement agency ITMS, not replace it. Alerts rarely say what to do.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309360" y="1188720"/>
            <a:ext cx="2377440" cy="3429000"/>
          </a:xfrm>
          <a:prstGeom prst="roundRect">
            <a:avLst>
              <a:gd name="adj" fmla="val 3846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640080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~68 lakh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daily Mumbai suburban rail riders, avg. (CR+WR, FY2025-26)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3383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Pune loses ~152 h a year in traffic (TomTom 2025); PMPML ~60 breakdowns a day (FPJ).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&amp; Innovation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have you built or designed, how does it work, and what is new about it?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3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in brief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8132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work-and-errands day planner: ordered stops, be-there-by times, must-do flags and a conflict list. Times every bus, metro and train leg, re-plans on delays; alerts in Marathi, Hindi, English.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8595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8595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</a:t>
            </a:r>
            <a:endParaRPr lang="en-US" sz="1120" dirty="0"/>
          </a:p>
        </p:txBody>
      </p:sp>
      <p:sp>
        <p:nvSpPr>
          <p:cNvPr id="13" name="Text 11"/>
          <p:cNvSpPr txBox="1"/>
          <p:nvPr/>
        </p:nvSpPr>
        <p:spPr>
          <a:xfrm>
            <a:off x="5303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Input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Stops, be-there-by times, pace, language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8288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22311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22311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120" dirty="0"/>
          </a:p>
        </p:txBody>
      </p:sp>
      <p:sp>
        <p:nvSpPr>
          <p:cNvPr id="19" name="Text 17"/>
          <p:cNvSpPr txBox="1"/>
          <p:nvPr/>
        </p:nvSpPr>
        <p:spPr>
          <a:xfrm>
            <a:off x="19019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Process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Timetable routing, on-time odds, live re-plan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29992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32004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6027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 txBox="1"/>
          <p:nvPr/>
        </p:nvSpPr>
        <p:spPr>
          <a:xfrm>
            <a:off x="36027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120" dirty="0"/>
          </a:p>
        </p:txBody>
      </p:sp>
      <p:sp>
        <p:nvSpPr>
          <p:cNvPr id="25" name="Text 23"/>
          <p:cNvSpPr txBox="1"/>
          <p:nvPr/>
        </p:nvSpPr>
        <p:spPr>
          <a:xfrm>
            <a:off x="32735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Output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918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Leave/board times, calm alerts, shareable trip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makes it new?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36192"/>
          <a:ext cx="3931920" cy="19202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Existing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Our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Cost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A-to-B apps, cabs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One plan; ₹0 demo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Speed / time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Guess leave time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Exact leave times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Reach / access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One mode per app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Bus, metro, rail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Ease of use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Single trip only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Many stops, one plan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475488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Key USP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754880" y="38862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Plans a working day around deadlines across bus, metro and rail; alerts say what to do; citizen gap reports reach authorities. No patent filed.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Feasibility &amp; Implementation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ready is the solution, and what will it take to implement it on the ground?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4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704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stage (mark ✔ where you are today)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1783080"/>
            <a:ext cx="7315200" cy="0"/>
          </a:xfrm>
          <a:prstGeom prst="line">
            <a:avLst/>
          </a:prstGeom>
          <a:noFill/>
          <a:ln w="25400">
            <a:solidFill>
              <a:srgbClr val="C3CA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589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1828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Idea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877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20116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Proof of Concept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16552" y="1627632"/>
            <a:ext cx="310896" cy="310896"/>
          </a:xfrm>
          <a:prstGeom prst="ellipse">
            <a:avLst/>
          </a:prstGeom>
          <a:solidFill>
            <a:srgbClr val="F28C28"/>
          </a:solidFill>
          <a:ln w="25400">
            <a:solidFill>
              <a:srgbClr val="F28C28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✔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38404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453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56692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Field Pilot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741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74980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Ready to Deploy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TypeScript engine, Next.js web, Expo app. Real rail, PMPML, BEST timetables (community GTFS). Fixed on the way: tourist planner → work/errands; vague alerts.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56032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269748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Estimated cost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9748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Demo ₹0. Pilot est. ₹8.7–13.7k/month for 10,000 users ≈ ₹0.9–1.4 per user (est.; ₹90/$).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480060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Timeline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0060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 months: baseline interviews.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 months: agency pilot.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12 months: second city. (planned)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6656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 txBox="1"/>
          <p:nvPr/>
        </p:nvSpPr>
        <p:spPr>
          <a:xfrm>
            <a:off x="690372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Partners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To approach (no MoUs yet): Urban Development Dept (GoM), PMPML (CMD), BEST (GM), MMRDA, Maha-Metro, MSInS.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Impact &amp; Scalability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change will your solution create, and how can it grow beyond the first location?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5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48640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~10 lakh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Beneficiaries reached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addressable: PMPML riders/day; target TBD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64408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3355848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TBD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355848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Saving in cost / time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est. only, cab-baseline model; not measured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71616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6163056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TBD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163056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Jobs or livelihoods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163056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none claimed; data steward planned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Social impact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Fewer missed connections and rushed trips; Gentle pace and late-walk warnings for seniors; citizen gap reports reach authorities. Impact not yet measured.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64408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3401568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Sustainability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401568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Free for commuters; agencies may fund insights and gap ranking. Pilot est. ₹0.9–1.4 per user a month.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71616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6208776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Scale-up plan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08776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city is a data pack (GTFS + places). Next: Nashik, Nagpur, then other states. Needs agency feeds and a data steward.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Team/Individual &amp; Support Required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behind the idea, and what help do you need from the Challenge?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59436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Photo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Divyanshu Patil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role]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qualification]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97480" y="11887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283464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2834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Photo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344728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name 2]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44728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role]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44728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qualification]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246888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594360" y="265176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Photo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26334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name 3]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288950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role]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31089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qualification]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697480" y="246888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2834640" y="265176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283464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Photo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3447288" y="26334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name 4]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447288" y="288950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role]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3447288" y="31089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qualification]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8404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mentor / faculty guide, designation]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120640" y="1188720"/>
            <a:ext cx="356616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 txBox="1"/>
          <p:nvPr/>
        </p:nvSpPr>
        <p:spPr>
          <a:xfrm>
            <a:off x="530352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Support we are seeking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✔</a:t>
            </a:r>
          </a:p>
        </p:txBody>
      </p:sp>
      <p:sp>
        <p:nvSpPr>
          <p:cNvPr id="34" name="Text 32"/>
          <p:cNvSpPr txBox="1"/>
          <p:nvPr/>
        </p:nvSpPr>
        <p:spPr>
          <a:xfrm>
            <a:off x="5669280" y="1737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Mentorship &amp; technical guidance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✔</a:t>
            </a:r>
          </a:p>
        </p:txBody>
      </p:sp>
      <p:sp>
        <p:nvSpPr>
          <p:cNvPr id="36" name="Text 34"/>
          <p:cNvSpPr txBox="1"/>
          <p:nvPr/>
        </p:nvSpPr>
        <p:spPr>
          <a:xfrm>
            <a:off x="5669280" y="21214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Pilot with a government department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✔</a:t>
            </a:r>
          </a:p>
        </p:txBody>
      </p:sp>
      <p:sp>
        <p:nvSpPr>
          <p:cNvPr id="38" name="Text 36"/>
          <p:cNvSpPr txBox="1"/>
          <p:nvPr/>
        </p:nvSpPr>
        <p:spPr>
          <a:xfrm>
            <a:off x="5669280" y="250545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Funding / grant support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349240" y="2916936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 txBox="1"/>
          <p:nvPr/>
        </p:nvSpPr>
        <p:spPr>
          <a:xfrm>
            <a:off x="5669280" y="28895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Incubation &amp; workspace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349240" y="3300984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 txBox="1"/>
          <p:nvPr/>
        </p:nvSpPr>
        <p:spPr>
          <a:xfrm>
            <a:off x="5669280" y="32735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Testing, certification or IP support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30352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mentor and an agency pilot take us from working prototype to a one-city field pilot. Work order up to ₹10 lakh, subject to evaluation.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4343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Thank you  |  [Add: contact email / mobile]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6 of 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1008</Words>
  <Application>Microsoft Office PowerPoint</Application>
  <PresentationFormat>On-screen Show (16:9)</PresentationFormat>
  <Paragraphs>138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Nirmala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Seva Innovation Challenge – Reference Pitch Deck</dc:title>
  <dc:subject>PptxGenJS Presentation</dc:subject>
  <dc:creator>PptxGenJS</dc:creator>
  <cp:lastModifiedBy>ceo_ispark@mssu.ac.in</cp:lastModifiedBy>
  <cp:revision>4</cp:revision>
  <dcterms:created xsi:type="dcterms:W3CDTF">2026-09-23T13:40:13Z</dcterms:created>
  <dcterms:modified xsi:type="dcterms:W3CDTF">2026-09-23T13:46:30Z</dcterms:modified>
</cp:coreProperties>
</file>